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5" r:id="rId7"/>
    <p:sldId id="262" r:id="rId8"/>
    <p:sldId id="261" r:id="rId9"/>
    <p:sldId id="264" r:id="rId10"/>
  </p:sldIdLst>
  <p:sldSz cx="14630400" cy="8229600"/>
  <p:notesSz cx="8229600" cy="14630400"/>
  <p:embeddedFontLst>
    <p:embeddedFont>
      <p:font typeface="Aharoni" panose="02010803020104030203" pitchFamily="2" charset="-79"/>
      <p:bold r:id="rId12"/>
    </p:embeddedFont>
    <p:embeddedFont>
      <p:font typeface="Aptos Slab SemiBold" panose="020B0004020202020204" pitchFamily="34" charset="0"/>
      <p:bold r:id="rId13"/>
      <p:boldItalic r:id="rId14"/>
    </p:embeddedFont>
    <p:embeddedFont>
      <p:font typeface="Arimo" panose="020B060402020202020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9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46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82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82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76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40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37724" y="1888569"/>
            <a:ext cx="1007042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Как выбрать вуз и не ошибиться?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295155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Для тысяч школьников выбор будущего превращается в хаос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3603784"/>
            <a:ext cx="4158734" cy="2092166"/>
          </a:xfrm>
          <a:prstGeom prst="roundRect">
            <a:avLst>
              <a:gd name="adj" fmla="val 17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77039" y="3843099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Слишком много вариантов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7039" y="4690586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Сотни вузов, программ и сайтов — без структуры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3603784"/>
            <a:ext cx="4158734" cy="2092166"/>
          </a:xfrm>
          <a:prstGeom prst="roundRect">
            <a:avLst>
              <a:gd name="adj" fmla="val 17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475089" y="3843099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Нет персонального подбора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75089" y="4690586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Обычные агрегаторы не учитывают конкретного ученика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3603784"/>
            <a:ext cx="4158853" cy="2092166"/>
          </a:xfrm>
          <a:prstGeom prst="roundRect">
            <a:avLst>
              <a:gd name="adj" fmla="val 17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873139" y="3843099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Выбор делается случайно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3139" y="4690586"/>
            <a:ext cx="36802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Без системы — решение влияет на всё будущее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196697" y="6234351"/>
            <a:ext cx="12595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«Что подходит именно мне?»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37724" y="5965150"/>
            <a:ext cx="30480" cy="921425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5310" y="502161"/>
            <a:ext cx="9234488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NewStage — ИИ-помощник для выбора вуза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1788" y="1565514"/>
            <a:ext cx="1068764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D9E1FF"/>
                </a:solidFill>
                <a:latin typeface="Syne Bold"/>
                <a:ea typeface="Arimo" pitchFamily="34" charset="-122"/>
                <a:cs typeface="Arimo" pitchFamily="34" charset="-120"/>
              </a:rPr>
              <a:t>Подбирает, сравнивает и помогает принять решение</a:t>
            </a:r>
            <a:endParaRPr lang="en-US" b="1" dirty="0">
              <a:latin typeface="Syne Bold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CF7CDE71-64A7-5696-A1FA-1789BAF2D888}"/>
              </a:ext>
            </a:extLst>
          </p:cNvPr>
          <p:cNvGrpSpPr/>
          <p:nvPr/>
        </p:nvGrpSpPr>
        <p:grpSpPr>
          <a:xfrm>
            <a:off x="9553024" y="705519"/>
            <a:ext cx="4662022" cy="2262202"/>
            <a:chOff x="9536534" y="2058724"/>
            <a:chExt cx="4588550" cy="1181576"/>
          </a:xfrm>
        </p:grpSpPr>
        <p:sp>
          <p:nvSpPr>
            <p:cNvPr id="7" name="Shape 4"/>
            <p:cNvSpPr/>
            <p:nvPr/>
          </p:nvSpPr>
          <p:spPr>
            <a:xfrm>
              <a:off x="9536534" y="2058724"/>
              <a:ext cx="4588550" cy="1181576"/>
            </a:xfrm>
            <a:prstGeom prst="roundRect">
              <a:avLst>
                <a:gd name="adj" fmla="val 9287"/>
              </a:avLst>
            </a:prstGeom>
            <a:solidFill>
              <a:srgbClr val="0C0A33"/>
            </a:solidFill>
            <a:ln w="22860">
              <a:solidFill>
                <a:srgbClr val="44426B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 6"/>
            <p:cNvSpPr/>
            <p:nvPr/>
          </p:nvSpPr>
          <p:spPr>
            <a:xfrm>
              <a:off x="9627974" y="2229108"/>
              <a:ext cx="2915126" cy="2495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280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 ИИ-поиск по параметрам</a:t>
              </a:r>
              <a:endParaRPr lang="en-US" sz="28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9873929" y="2435583"/>
              <a:ext cx="4145161" cy="4441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Вводишь критерии — ИИ находит подходящие варианты</a:t>
              </a:r>
              <a:endParaRPr lang="en-US" sz="2000" dirty="0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30D606D-DA55-D082-8219-E9395089291F}"/>
              </a:ext>
            </a:extLst>
          </p:cNvPr>
          <p:cNvGrpSpPr/>
          <p:nvPr/>
        </p:nvGrpSpPr>
        <p:grpSpPr>
          <a:xfrm>
            <a:off x="9529810" y="3253765"/>
            <a:ext cx="4685235" cy="2262202"/>
            <a:chOff x="9510945" y="3353410"/>
            <a:chExt cx="4588550" cy="959525"/>
          </a:xfrm>
        </p:grpSpPr>
        <p:sp>
          <p:nvSpPr>
            <p:cNvPr id="11" name="Shape 8"/>
            <p:cNvSpPr/>
            <p:nvPr/>
          </p:nvSpPr>
          <p:spPr>
            <a:xfrm>
              <a:off x="9510945" y="3353410"/>
              <a:ext cx="4588550" cy="959525"/>
            </a:xfrm>
            <a:prstGeom prst="roundRect">
              <a:avLst>
                <a:gd name="adj" fmla="val 11436"/>
              </a:avLst>
            </a:prstGeom>
            <a:solidFill>
              <a:srgbClr val="0C0A33"/>
            </a:solidFill>
            <a:ln w="22860">
              <a:solidFill>
                <a:srgbClr val="44426B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605114" y="3485147"/>
              <a:ext cx="3138011" cy="2495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280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 Детальное сравнение вузов</a:t>
              </a:r>
              <a:endParaRPr lang="en-US" sz="28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9873770" y="3634308"/>
              <a:ext cx="3775416" cy="6087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Все варианты на </a:t>
              </a:r>
              <a:r>
                <a:rPr lang="en-US" sz="2000" dirty="0" err="1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одном</a:t>
              </a:r>
              <a:r>
                <a:rPr lang="en-US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 </a:t>
              </a:r>
              <a:r>
                <a:rPr lang="en-US" sz="2000" dirty="0" err="1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экране</a:t>
              </a:r>
              <a:br>
                <a:rPr lang="ru-RU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</a:br>
              <a:r>
                <a:rPr lang="en-US" sz="2000" dirty="0" err="1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удобно</a:t>
              </a:r>
              <a:r>
                <a:rPr lang="en-US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 и наглядно</a:t>
              </a:r>
              <a:endParaRPr lang="en-US" sz="2000" dirty="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18447CA4-9B83-EC0C-B3FE-2F92784EC131}"/>
              </a:ext>
            </a:extLst>
          </p:cNvPr>
          <p:cNvGrpSpPr/>
          <p:nvPr/>
        </p:nvGrpSpPr>
        <p:grpSpPr>
          <a:xfrm>
            <a:off x="9527625" y="851934"/>
            <a:ext cx="4687420" cy="7202584"/>
            <a:chOff x="9514266" y="2330550"/>
            <a:chExt cx="4610818" cy="3055017"/>
          </a:xfrm>
        </p:grpSpPr>
        <p:sp>
          <p:nvSpPr>
            <p:cNvPr id="15" name="Shape 12"/>
            <p:cNvSpPr/>
            <p:nvPr/>
          </p:nvSpPr>
          <p:spPr>
            <a:xfrm>
              <a:off x="9536534" y="4426042"/>
              <a:ext cx="4588550" cy="959525"/>
            </a:xfrm>
            <a:prstGeom prst="roundRect">
              <a:avLst>
                <a:gd name="adj" fmla="val 11436"/>
              </a:avLst>
            </a:prstGeom>
            <a:solidFill>
              <a:srgbClr val="0C0A33"/>
            </a:solidFill>
            <a:ln w="22860">
              <a:solidFill>
                <a:srgbClr val="44426B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9514266" y="2330550"/>
              <a:ext cx="83019" cy="832347"/>
            </a:xfrm>
            <a:prstGeom prst="roundRect">
              <a:avLst>
                <a:gd name="adj" fmla="val 26997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9627973" y="4531554"/>
              <a:ext cx="3369112" cy="2495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260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 Персональные рекомендации</a:t>
              </a:r>
              <a:endParaRPr lang="en-US" sz="2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9873991" y="4689352"/>
              <a:ext cx="4145161" cy="2220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ИИ анализирует профиль и </a:t>
              </a:r>
              <a:br>
                <a:rPr lang="ru-RU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</a:br>
              <a:r>
                <a:rPr lang="en-US" sz="2000" dirty="0" err="1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предлагает</a:t>
              </a:r>
              <a:r>
                <a:rPr lang="en-US" sz="20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 лучшее</a:t>
              </a:r>
              <a:endParaRPr lang="en-US" sz="2000" dirty="0"/>
            </a:p>
          </p:txBody>
        </p:sp>
      </p:grpSp>
      <p:sp>
        <p:nvSpPr>
          <p:cNvPr id="19" name="Shape 13">
            <a:extLst>
              <a:ext uri="{FF2B5EF4-FFF2-40B4-BE49-F238E27FC236}">
                <a16:creationId xmlns:a16="http://schemas.microsoft.com/office/drawing/2014/main" id="{91C1740D-A245-FF72-705D-C89BCD3F313D}"/>
              </a:ext>
            </a:extLst>
          </p:cNvPr>
          <p:cNvSpPr/>
          <p:nvPr/>
        </p:nvSpPr>
        <p:spPr>
          <a:xfrm>
            <a:off x="9529810" y="3407191"/>
            <a:ext cx="84398" cy="1962362"/>
          </a:xfrm>
          <a:prstGeom prst="roundRect">
            <a:avLst>
              <a:gd name="adj" fmla="val 26997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EC5CB218-BD07-E80F-D555-1E2F66662DD7}"/>
              </a:ext>
            </a:extLst>
          </p:cNvPr>
          <p:cNvSpPr/>
          <p:nvPr/>
        </p:nvSpPr>
        <p:spPr>
          <a:xfrm>
            <a:off x="9538304" y="5955437"/>
            <a:ext cx="84398" cy="1962362"/>
          </a:xfrm>
          <a:prstGeom prst="roundRect">
            <a:avLst>
              <a:gd name="adj" fmla="val 26997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C153E3A-57B3-D0FB-A12E-137248E21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82" y="2127908"/>
            <a:ext cx="8700984" cy="55905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 descr="Сформированное изображение: Кабинет с деревянным персонажем и ноутбуком">
            <a:extLst>
              <a:ext uri="{FF2B5EF4-FFF2-40B4-BE49-F238E27FC236}">
                <a16:creationId xmlns:a16="http://schemas.microsoft.com/office/drawing/2014/main" id="{59D5FAA1-D610-975B-9872-3FB471F8A9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6763" y="0"/>
            <a:ext cx="547687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7" name="Группа 26"/>
          <p:cNvGrpSpPr/>
          <p:nvPr/>
        </p:nvGrpSpPr>
        <p:grpSpPr>
          <a:xfrm>
            <a:off x="1035046" y="1144786"/>
            <a:ext cx="7697085" cy="6401753"/>
            <a:chOff x="700751" y="1144786"/>
            <a:chExt cx="7697085" cy="6401753"/>
          </a:xfrm>
        </p:grpSpPr>
        <p:sp>
          <p:nvSpPr>
            <p:cNvPr id="5" name="Text 2"/>
            <p:cNvSpPr/>
            <p:nvPr/>
          </p:nvSpPr>
          <p:spPr>
            <a:xfrm>
              <a:off x="746165" y="1144786"/>
              <a:ext cx="7497961" cy="6269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900"/>
                </a:lnSpc>
                <a:buNone/>
              </a:pPr>
              <a:r>
                <a:rPr lang="en-US" sz="3900" b="1" dirty="0">
                  <a:solidFill>
                    <a:srgbClr val="FFFF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Почему именно NewStage?</a:t>
              </a:r>
              <a:endParaRPr lang="en-US" sz="39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746165" y="2056567"/>
              <a:ext cx="3730943" cy="2972514"/>
            </a:xfrm>
            <a:prstGeom prst="roundRect">
              <a:avLst>
                <a:gd name="adj" fmla="val 1076"/>
              </a:avLst>
            </a:prstGeom>
            <a:solidFill>
              <a:srgbClr val="2B2952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Shape 4"/>
            <p:cNvSpPr/>
            <p:nvPr/>
          </p:nvSpPr>
          <p:spPr>
            <a:xfrm>
              <a:off x="959287" y="2269688"/>
              <a:ext cx="639485" cy="639485"/>
            </a:xfrm>
            <a:prstGeom prst="roundRect">
              <a:avLst>
                <a:gd name="adj" fmla="val 14297576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5142" y="2445544"/>
              <a:ext cx="287774" cy="287774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959287" y="3098959"/>
              <a:ext cx="2508171" cy="3134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Рабочий MVP</a:t>
              </a:r>
              <a:endParaRPr lang="en-US" sz="19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959287" y="3526274"/>
              <a:ext cx="3304699" cy="9672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5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Поиск, фильтры, сравнение вузов и базовая ИИ-рекомендация уже реализованы.</a:t>
              </a:r>
              <a:endParaRPr lang="en-US" sz="1650" dirty="0"/>
            </a:p>
          </p:txBody>
        </p:sp>
        <p:sp>
          <p:nvSpPr>
            <p:cNvPr id="11" name="Shape 7"/>
            <p:cNvSpPr/>
            <p:nvPr/>
          </p:nvSpPr>
          <p:spPr>
            <a:xfrm>
              <a:off x="4666893" y="2056567"/>
              <a:ext cx="3730943" cy="2972514"/>
            </a:xfrm>
            <a:prstGeom prst="roundRect">
              <a:avLst>
                <a:gd name="adj" fmla="val 1076"/>
              </a:avLst>
            </a:prstGeom>
            <a:solidFill>
              <a:srgbClr val="2B2952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Shape 8"/>
            <p:cNvSpPr/>
            <p:nvPr/>
          </p:nvSpPr>
          <p:spPr>
            <a:xfrm>
              <a:off x="4880015" y="2269688"/>
              <a:ext cx="639485" cy="639485"/>
            </a:xfrm>
            <a:prstGeom prst="roundRect">
              <a:avLst>
                <a:gd name="adj" fmla="val 14297576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55870" y="2445544"/>
              <a:ext cx="287774" cy="287774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4880015" y="3098959"/>
              <a:ext cx="2707362" cy="3134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Уникальный подход</a:t>
              </a:r>
              <a:endParaRPr lang="en-US" sz="195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4880015" y="3526274"/>
              <a:ext cx="3304699" cy="128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5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NewStage не просто показывает варианты, а помогает выбрать подходящий вуз под конкретного пользователя.</a:t>
              </a:r>
              <a:endParaRPr lang="en-US" sz="1650" dirty="0"/>
            </a:p>
          </p:txBody>
        </p:sp>
        <p:sp>
          <p:nvSpPr>
            <p:cNvPr id="16" name="Shape 11"/>
            <p:cNvSpPr/>
            <p:nvPr/>
          </p:nvSpPr>
          <p:spPr>
            <a:xfrm>
              <a:off x="746165" y="5218867"/>
              <a:ext cx="7651671" cy="2327672"/>
            </a:xfrm>
            <a:prstGeom prst="roundRect">
              <a:avLst>
                <a:gd name="adj" fmla="val 1374"/>
              </a:avLst>
            </a:prstGeom>
            <a:solidFill>
              <a:srgbClr val="2B2952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Shape 12"/>
            <p:cNvSpPr/>
            <p:nvPr/>
          </p:nvSpPr>
          <p:spPr>
            <a:xfrm>
              <a:off x="959287" y="5431988"/>
              <a:ext cx="639485" cy="639485"/>
            </a:xfrm>
            <a:prstGeom prst="roundRect">
              <a:avLst>
                <a:gd name="adj" fmla="val 14297576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5142" y="5607844"/>
              <a:ext cx="287774" cy="287774"/>
            </a:xfrm>
            <a:prstGeom prst="rect">
              <a:avLst/>
            </a:prstGeom>
          </p:spPr>
        </p:pic>
        <p:sp>
          <p:nvSpPr>
            <p:cNvPr id="19" name="Text 13"/>
            <p:cNvSpPr/>
            <p:nvPr/>
          </p:nvSpPr>
          <p:spPr>
            <a:xfrm>
              <a:off x="959287" y="6261259"/>
              <a:ext cx="2508171" cy="3134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Команда</a:t>
              </a:r>
              <a:endParaRPr lang="en-US" sz="1950" dirty="0"/>
            </a:p>
          </p:txBody>
        </p:sp>
        <p:sp>
          <p:nvSpPr>
            <p:cNvPr id="20" name="Text 14"/>
            <p:cNvSpPr/>
            <p:nvPr/>
          </p:nvSpPr>
          <p:spPr>
            <a:xfrm>
              <a:off x="959287" y="6688574"/>
              <a:ext cx="7225427" cy="6448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5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Мы понимаем проблему изнутри, уже собрали первый продукт и знаем, как развивать его дальше.</a:t>
              </a:r>
              <a:endParaRPr lang="en-US" sz="1650" dirty="0"/>
            </a:p>
          </p:txBody>
        </p:sp>
        <p:sp>
          <p:nvSpPr>
            <p:cNvPr id="22" name="Shape 5"/>
            <p:cNvSpPr/>
            <p:nvPr/>
          </p:nvSpPr>
          <p:spPr>
            <a:xfrm>
              <a:off x="700751" y="2056567"/>
              <a:ext cx="82680" cy="2972514"/>
            </a:xfrm>
            <a:prstGeom prst="roundRect">
              <a:avLst>
                <a:gd name="adj" fmla="val 26997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Shape 5"/>
            <p:cNvSpPr/>
            <p:nvPr/>
          </p:nvSpPr>
          <p:spPr>
            <a:xfrm>
              <a:off x="4630953" y="2058880"/>
              <a:ext cx="82680" cy="2972514"/>
            </a:xfrm>
            <a:prstGeom prst="roundRect">
              <a:avLst>
                <a:gd name="adj" fmla="val 26997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Shape 5"/>
            <p:cNvSpPr/>
            <p:nvPr/>
          </p:nvSpPr>
          <p:spPr>
            <a:xfrm>
              <a:off x="700751" y="5218867"/>
              <a:ext cx="86753" cy="2327672"/>
            </a:xfrm>
            <a:prstGeom prst="roundRect">
              <a:avLst>
                <a:gd name="adj" fmla="val 26997"/>
              </a:avLst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890D7-3805-A6CA-6470-20DACA473B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66"/>
          <a:stretch>
            <a:fillRect/>
          </a:stretch>
        </p:blipFill>
        <p:spPr>
          <a:xfrm>
            <a:off x="8998764" y="1"/>
            <a:ext cx="5631636" cy="8229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1"/>
          <p:cNvSpPr/>
          <p:nvPr/>
        </p:nvSpPr>
        <p:spPr>
          <a:xfrm>
            <a:off x="8074915" y="2107881"/>
            <a:ext cx="5228130" cy="1288834"/>
          </a:xfrm>
          <a:prstGeom prst="roundRect">
            <a:avLst>
              <a:gd name="adj" fmla="val 168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11"/>
          <p:cNvSpPr/>
          <p:nvPr/>
        </p:nvSpPr>
        <p:spPr>
          <a:xfrm>
            <a:off x="8074915" y="3594541"/>
            <a:ext cx="5228130" cy="1321550"/>
          </a:xfrm>
          <a:prstGeom prst="roundRect">
            <a:avLst>
              <a:gd name="adj" fmla="val 168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11"/>
          <p:cNvSpPr/>
          <p:nvPr/>
        </p:nvSpPr>
        <p:spPr>
          <a:xfrm>
            <a:off x="1396182" y="3594541"/>
            <a:ext cx="5633884" cy="1321550"/>
          </a:xfrm>
          <a:prstGeom prst="roundRect">
            <a:avLst>
              <a:gd name="adj" fmla="val 168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11"/>
          <p:cNvSpPr/>
          <p:nvPr/>
        </p:nvSpPr>
        <p:spPr>
          <a:xfrm>
            <a:off x="1396182" y="2107881"/>
            <a:ext cx="5633884" cy="1284247"/>
          </a:xfrm>
          <a:prstGeom prst="roundRect">
            <a:avLst>
              <a:gd name="adj" fmla="val 168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93790" y="75354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F7F7F8"/>
                </a:solidFill>
                <a:latin typeface="Syne Bold"/>
                <a:ea typeface="DM Sans Medium" pitchFamily="34" charset="-122"/>
                <a:cs typeface="DM Sans Medium" pitchFamily="34" charset="-120"/>
              </a:rPr>
              <a:t>Целевая аудитория</a:t>
            </a:r>
            <a:endParaRPr lang="en-US" sz="4400" b="1" dirty="0">
              <a:latin typeface="Syne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712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 </a:t>
            </a:r>
            <a:r>
              <a:rPr lang="ru-RU" sz="1850" dirty="0" err="1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У</a:t>
            </a:r>
            <a:r>
              <a:rPr lang="en-US" sz="1850" dirty="0" err="1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ченики</a:t>
            </a:r>
            <a:r>
              <a:rPr lang="en-US" sz="18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9-11 класса (1</a:t>
            </a:r>
            <a:r>
              <a:rPr lang="ru-RU" sz="18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5</a:t>
            </a:r>
            <a:r>
              <a:rPr lang="en-US" sz="18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–18 лет)</a:t>
            </a:r>
            <a:endParaRPr lang="en-US" sz="18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212062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2212062"/>
            <a:ext cx="38351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6D9D7"/>
                </a:solidFill>
                <a:latin typeface="Syne Bold"/>
                <a:ea typeface="Syne Bold"/>
                <a:cs typeface="DM Sans Medium" pitchFamily="34" charset="-120"/>
              </a:rPr>
              <a:t>Не определились с профессией</a:t>
            </a:r>
            <a:endParaRPr lang="en-US" sz="1950" b="1" dirty="0">
              <a:latin typeface="Syne Bold"/>
              <a:ea typeface="Syne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7930" y="2641282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Активно ищут информацию о возможных карьерных путях</a:t>
            </a:r>
            <a:endParaRPr lang="en-US" sz="15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212062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285" y="22120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6D9D7"/>
                </a:solidFill>
                <a:latin typeface="Syne Bold"/>
                <a:ea typeface="Syne Bold"/>
                <a:cs typeface="DM Sans Medium" pitchFamily="34" charset="-120"/>
              </a:rPr>
              <a:t>Боятся ошибиться</a:t>
            </a:r>
            <a:endParaRPr lang="en-US" sz="1950" b="1" dirty="0">
              <a:latin typeface="Syne Bold"/>
              <a:ea typeface="Syne Bold"/>
            </a:endParaRPr>
          </a:p>
        </p:txBody>
      </p:sp>
      <p:sp>
        <p:nvSpPr>
          <p:cNvPr id="9" name="Text 5"/>
          <p:cNvSpPr/>
          <p:nvPr/>
        </p:nvSpPr>
        <p:spPr>
          <a:xfrm>
            <a:off x="8183285" y="2641282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Опасаются сделать неправильный выбор и испортить будущее</a:t>
            </a:r>
            <a:endParaRPr lang="en-US" sz="15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673197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7930" y="3673197"/>
            <a:ext cx="33873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6D9D7"/>
                </a:solidFill>
                <a:latin typeface="Syne Bold"/>
                <a:ea typeface="Syne Bold"/>
                <a:cs typeface="DM Sans Medium" pitchFamily="34" charset="-120"/>
              </a:rPr>
              <a:t>Активно ищут информацию</a:t>
            </a:r>
            <a:endParaRPr lang="en-US" sz="1950" b="1" dirty="0">
              <a:latin typeface="Syne Bold"/>
              <a:ea typeface="Syne Bold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537930" y="4102418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Проводят исследования в интернете и консультируются с окружающими</a:t>
            </a:r>
            <a:endParaRPr lang="en-US" sz="15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673197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36731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6D9D7"/>
                </a:solidFill>
                <a:latin typeface="Syne Bold"/>
                <a:ea typeface="Syne Bold"/>
                <a:cs typeface="DM Sans Medium" pitchFamily="34" charset="-120"/>
              </a:rPr>
              <a:t>Испытывают стресс</a:t>
            </a:r>
            <a:endParaRPr lang="en-US" sz="1950" b="1" dirty="0">
              <a:latin typeface="Syne Bold"/>
              <a:ea typeface="Syne Bold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183285" y="4102418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Тревожность из-за поступления и важности решения</a:t>
            </a:r>
            <a:endParaRPr lang="en-US" sz="15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93790" y="5172804"/>
            <a:ext cx="33445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 err="1">
                <a:solidFill>
                  <a:srgbClr val="F7F7F8"/>
                </a:solidFill>
                <a:latin typeface="Syne Bold"/>
                <a:ea typeface="Syne Bold"/>
                <a:cs typeface="DM Sans Medium" pitchFamily="34" charset="-120"/>
              </a:rPr>
              <a:t>Психология</a:t>
            </a:r>
            <a:r>
              <a:rPr lang="en-US" sz="2300" dirty="0">
                <a:solidFill>
                  <a:srgbClr val="F7F7F8"/>
                </a:solidFill>
                <a:latin typeface="Syne Bold"/>
                <a:ea typeface="Syne Bold"/>
                <a:cs typeface="DM Sans Medium" pitchFamily="34" charset="-120"/>
              </a:rPr>
              <a:t> </a:t>
            </a:r>
            <a:r>
              <a:rPr lang="en-US" sz="2300" dirty="0" err="1">
                <a:solidFill>
                  <a:srgbClr val="F7F7F8"/>
                </a:solidFill>
                <a:latin typeface="Syne Bold"/>
                <a:ea typeface="Syne Bold"/>
                <a:cs typeface="DM Sans Medium" pitchFamily="34" charset="-120"/>
              </a:rPr>
              <a:t>аудитории</a:t>
            </a:r>
            <a:r>
              <a:rPr lang="en-US" sz="2300" dirty="0">
                <a:solidFill>
                  <a:srgbClr val="F7F7F8"/>
                </a:solidFill>
                <a:latin typeface="Syne Bold"/>
                <a:ea typeface="Syne Bold"/>
                <a:cs typeface="DM Sans Medium" pitchFamily="34" charset="-120"/>
              </a:rPr>
              <a:t>:</a:t>
            </a:r>
            <a:endParaRPr lang="en-US" sz="2300" dirty="0">
              <a:latin typeface="Syne Bold"/>
              <a:ea typeface="Syne Bold"/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547990" y="5704880"/>
            <a:ext cx="4215289" cy="1771174"/>
            <a:chOff x="793790" y="5704880"/>
            <a:chExt cx="4215289" cy="1771174"/>
          </a:xfrm>
          <a:solidFill>
            <a:srgbClr val="2B2952"/>
          </a:solidFill>
        </p:grpSpPr>
        <p:sp>
          <p:nvSpPr>
            <p:cNvPr id="17" name="Shape 11"/>
            <p:cNvSpPr/>
            <p:nvPr/>
          </p:nvSpPr>
          <p:spPr>
            <a:xfrm>
              <a:off x="793790" y="5704880"/>
              <a:ext cx="4215289" cy="1771174"/>
            </a:xfrm>
            <a:prstGeom prst="roundRect">
              <a:avLst>
                <a:gd name="adj" fmla="val 1681"/>
              </a:avLst>
            </a:prstGeom>
            <a:grpFill/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Text 12"/>
            <p:cNvSpPr/>
            <p:nvPr/>
          </p:nvSpPr>
          <p:spPr>
            <a:xfrm>
              <a:off x="992148" y="5903238"/>
              <a:ext cx="2480905" cy="310158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400" b="1" dirty="0">
                  <a:solidFill>
                    <a:srgbClr val="D6D9D7"/>
                  </a:solidFill>
                  <a:latin typeface="Syne Bold"/>
                  <a:ea typeface="Syne Bold"/>
                  <a:cs typeface="DM Sans Medium" pitchFamily="34" charset="-120"/>
                </a:rPr>
                <a:t>Тревожность</a:t>
              </a:r>
              <a:endParaRPr lang="en-US" sz="2400" b="1" dirty="0">
                <a:latin typeface="Syne Bold"/>
                <a:ea typeface="Syne Bold"/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992148" y="6332458"/>
              <a:ext cx="3818573" cy="635079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D6D9D7"/>
                  </a:solidFill>
                  <a:latin typeface="Arimo" panose="020B0604020202020204" charset="0"/>
                  <a:ea typeface="Arimo" panose="020B0604020202020204" charset="0"/>
                  <a:cs typeface="Arimo" panose="020B0604020202020204" charset="0"/>
                </a:rPr>
                <a:t>Постоянное беспокойство о будущем и правильности выбора</a:t>
              </a:r>
              <a:endParaRPr lang="en-US" sz="155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5000958" y="5704880"/>
            <a:ext cx="4215408" cy="1771174"/>
            <a:chOff x="5207437" y="5704880"/>
            <a:chExt cx="4215408" cy="1771174"/>
          </a:xfrm>
          <a:solidFill>
            <a:srgbClr val="2B2952"/>
          </a:solidFill>
        </p:grpSpPr>
        <p:sp>
          <p:nvSpPr>
            <p:cNvPr id="20" name="Shape 14"/>
            <p:cNvSpPr/>
            <p:nvPr/>
          </p:nvSpPr>
          <p:spPr>
            <a:xfrm>
              <a:off x="5207437" y="5704880"/>
              <a:ext cx="4215408" cy="1771174"/>
            </a:xfrm>
            <a:prstGeom prst="roundRect">
              <a:avLst>
                <a:gd name="adj" fmla="val 1681"/>
              </a:avLst>
            </a:prstGeom>
            <a:grpFill/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Text 15"/>
            <p:cNvSpPr/>
            <p:nvPr/>
          </p:nvSpPr>
          <p:spPr>
            <a:xfrm>
              <a:off x="5405795" y="5903238"/>
              <a:ext cx="2480905" cy="310158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400" b="1" dirty="0">
                  <a:solidFill>
                    <a:srgbClr val="D6D9D7"/>
                  </a:solidFill>
                  <a:latin typeface="Syne Bold"/>
                  <a:ea typeface="Syne Bold"/>
                  <a:cs typeface="DM Sans Medium" pitchFamily="34" charset="-120"/>
                </a:rPr>
                <a:t>Неуверенность</a:t>
              </a:r>
              <a:endParaRPr lang="en-US" sz="2400" b="1" dirty="0">
                <a:latin typeface="Syne Bold"/>
                <a:ea typeface="Syne Bold"/>
              </a:endParaRPr>
            </a:p>
          </p:txBody>
        </p:sp>
        <p:sp>
          <p:nvSpPr>
            <p:cNvPr id="22" name="Text 16"/>
            <p:cNvSpPr/>
            <p:nvPr/>
          </p:nvSpPr>
          <p:spPr>
            <a:xfrm>
              <a:off x="5405795" y="6332458"/>
              <a:ext cx="3818692" cy="635079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D6D9D7"/>
                  </a:solidFill>
                  <a:latin typeface="Arimo" panose="020B0604020202020204" charset="0"/>
                  <a:ea typeface="Arimo" panose="020B0604020202020204" charset="0"/>
                  <a:cs typeface="Arimo" panose="020B0604020202020204" charset="0"/>
                </a:rPr>
                <a:t>Сомнения в своих способностях и правильности решений</a:t>
              </a:r>
              <a:endParaRPr lang="en-US" sz="155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endParaRPr>
            </a:p>
          </p:txBody>
        </p:sp>
      </p:grpSp>
      <p:sp>
        <p:nvSpPr>
          <p:cNvPr id="23" name="Shape 17"/>
          <p:cNvSpPr/>
          <p:nvPr/>
        </p:nvSpPr>
        <p:spPr>
          <a:xfrm>
            <a:off x="9454044" y="5704880"/>
            <a:ext cx="4674911" cy="1771174"/>
          </a:xfrm>
          <a:prstGeom prst="roundRect">
            <a:avLst>
              <a:gd name="adj" fmla="val 168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8"/>
          <p:cNvSpPr/>
          <p:nvPr/>
        </p:nvSpPr>
        <p:spPr>
          <a:xfrm>
            <a:off x="9423737" y="5903238"/>
            <a:ext cx="450776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ru-RU" sz="2400" b="1" dirty="0">
                <a:solidFill>
                  <a:srgbClr val="D6D9D7"/>
                </a:solidFill>
                <a:latin typeface="Syne Bold"/>
                <a:ea typeface="Syne Bold"/>
                <a:cs typeface="DM Sans Medium" pitchFamily="34" charset="-120"/>
              </a:rPr>
              <a:t>Желание правильного выбора</a:t>
            </a:r>
            <a:endParaRPr lang="en-US" sz="2400" b="1" dirty="0">
              <a:latin typeface="Syne Bold"/>
              <a:ea typeface="Syne Bold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9632752" y="6338300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Стремление найти единственно </a:t>
            </a:r>
            <a:r>
              <a:rPr lang="en-US" sz="1550" dirty="0" err="1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верный</a:t>
            </a:r>
            <a:r>
              <a:rPr lang="en-US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en-US" sz="1550" dirty="0" err="1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путь</a:t>
            </a:r>
            <a:r>
              <a:rPr lang="ru-RU" sz="1550" dirty="0">
                <a:solidFill>
                  <a:srgbClr val="D6D9D7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, определяющий будущее</a:t>
            </a:r>
            <a:endParaRPr lang="en-US" sz="15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478158" y="5704880"/>
            <a:ext cx="160031" cy="1771174"/>
          </a:xfrm>
          <a:prstGeom prst="roundRect">
            <a:avLst>
              <a:gd name="adj" fmla="val 26997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5"/>
          <p:cNvSpPr/>
          <p:nvPr/>
        </p:nvSpPr>
        <p:spPr>
          <a:xfrm>
            <a:off x="4920445" y="5697356"/>
            <a:ext cx="160031" cy="1771174"/>
          </a:xfrm>
          <a:prstGeom prst="roundRect">
            <a:avLst>
              <a:gd name="adj" fmla="val 26997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5"/>
          <p:cNvSpPr/>
          <p:nvPr/>
        </p:nvSpPr>
        <p:spPr>
          <a:xfrm>
            <a:off x="9374028" y="5697356"/>
            <a:ext cx="160031" cy="1771174"/>
          </a:xfrm>
          <a:prstGeom prst="roundRect">
            <a:avLst>
              <a:gd name="adj" fmla="val 26997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17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538639"/>
            <a:ext cx="4884301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00"/>
              </a:lnSpc>
            </a:pPr>
            <a:r>
              <a:rPr lang="en-US" sz="3800" b="1" dirty="0">
                <a:solidFill>
                  <a:srgbClr val="F7F7F8"/>
                </a:solidFill>
                <a:latin typeface="Syne Bold"/>
                <a:ea typeface="Syne Bold"/>
                <a:cs typeface="DM Sans Medium" pitchFamily="34" charset="-120"/>
              </a:rPr>
              <a:t>CJM</a:t>
            </a:r>
            <a:r>
              <a:rPr lang="ru-RU" sz="3800" b="1" dirty="0">
                <a:solidFill>
                  <a:srgbClr val="F7F7F8"/>
                </a:solidFill>
                <a:latin typeface="Syne Bold"/>
                <a:ea typeface="Syne Bold"/>
                <a:cs typeface="DM Sans Medium" pitchFamily="34" charset="-120"/>
              </a:rPr>
              <a:t> (Карта Пути Клиента)</a:t>
            </a:r>
            <a:endParaRPr lang="en-US" sz="3800" b="1" dirty="0">
              <a:latin typeface="Syne Bold"/>
              <a:ea typeface="Syne Bold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55575" y="926931"/>
            <a:ext cx="11898511" cy="678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72BC3BB-032A-3A3C-8DC1-A4FCD022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39" y="1371214"/>
            <a:ext cx="13067009" cy="6344063"/>
          </a:xfrm>
          <a:prstGeom prst="rect">
            <a:avLst/>
          </a:prstGeom>
        </p:spPr>
      </p:pic>
      <p:sp>
        <p:nvSpPr>
          <p:cNvPr id="3" name="AutoShape 2" descr="https://af12.mail.ru/cgi-bin/readmsg?id=17769511501185516691;0;1;1&amp;mode=attachment&amp;email=vasilenkosa25@st.ithub.ru&amp;ct=image%2fpng&amp;cn=image.png&amp;cte=binar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51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3EE0F70-9BF2-B0AB-B39D-3408154F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8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647819"/>
            <a:ext cx="6107311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Как </a:t>
            </a:r>
            <a:r>
              <a:rPr lang="en-US" sz="405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мы</a:t>
            </a:r>
            <a:r>
              <a:rPr lang="en-US" sz="4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</a:t>
            </a:r>
            <a:r>
              <a:rPr lang="en-US" sz="405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зарабатываем</a:t>
            </a:r>
            <a:r>
              <a:rPr lang="ru-RU" sz="4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- монетизация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72358" y="1703665"/>
            <a:ext cx="13085683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источника дохода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2358" y="2271593"/>
            <a:ext cx="6441162" cy="2553414"/>
          </a:xfrm>
          <a:prstGeom prst="roundRect">
            <a:avLst>
              <a:gd name="adj" fmla="val 129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992981" y="2492216"/>
            <a:ext cx="661987" cy="661988"/>
          </a:xfrm>
          <a:prstGeom prst="roundRect">
            <a:avLst>
              <a:gd name="adj" fmla="val 138115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8" y="2674144"/>
            <a:ext cx="297894" cy="297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981" y="3357563"/>
            <a:ext cx="302490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Партнёрство с вузами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92981" y="3804166"/>
            <a:ext cx="599991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Привлечение абитуриентов через заявки пользователей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2981" y="4265295"/>
            <a:ext cx="599991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Модель: оплата за лид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16879" y="2271593"/>
            <a:ext cx="6441162" cy="2553414"/>
          </a:xfrm>
          <a:prstGeom prst="roundRect">
            <a:avLst>
              <a:gd name="adj" fmla="val 129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7637502" y="2492216"/>
            <a:ext cx="661987" cy="661988"/>
          </a:xfrm>
          <a:prstGeom prst="roundRect">
            <a:avLst>
              <a:gd name="adj" fmla="val 138115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9549" y="2674144"/>
            <a:ext cx="297894" cy="2978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7502" y="3357563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Перегон трафика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637502" y="3804166"/>
            <a:ext cx="599991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Перенаправление пользователей на курсы ОГЭ/ЕГЭ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37502" y="4265295"/>
            <a:ext cx="599991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Оплата за переход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72358" y="5028367"/>
            <a:ext cx="13085683" cy="2553414"/>
          </a:xfrm>
          <a:prstGeom prst="roundRect">
            <a:avLst>
              <a:gd name="adj" fmla="val 129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992981" y="5248989"/>
            <a:ext cx="661987" cy="661988"/>
          </a:xfrm>
          <a:prstGeom prst="roundRect">
            <a:avLst>
              <a:gd name="adj" fmla="val 138115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5028" y="5430917"/>
            <a:ext cx="297894" cy="2978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92981" y="6114336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Реклама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92981" y="6560939"/>
            <a:ext cx="12644438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Баннеры, размещение образовательных сервисов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92981" y="7022068"/>
            <a:ext cx="12644438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Продвижение вузов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11197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176" y="351897"/>
            <a:ext cx="677358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Что нужно для запуска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9805" y="135499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Ресурсы</a:t>
            </a: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30104" y="1917968"/>
            <a:ext cx="6185535" cy="318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Сайт (разработка и поддержка)</a:t>
            </a:r>
            <a:endParaRPr lang="en-US" sz="2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Знания программирования</a:t>
            </a:r>
            <a:endParaRPr lang="en-US" sz="2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Ноутбук / техника</a:t>
            </a:r>
            <a:endParaRPr lang="en-US" sz="2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Интернет</a:t>
            </a:r>
            <a:endParaRPr lang="en-US" sz="2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Базовый дизайн</a:t>
            </a:r>
            <a:endParaRPr lang="en-US" sz="2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на разработку</a:t>
            </a:r>
            <a:endParaRPr lang="en-US" sz="2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Маркетинговые инструменты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78194" y="1354999"/>
            <a:ext cx="4064318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Ежемесячные </a:t>
            </a:r>
            <a:r>
              <a:rPr lang="en-US" sz="44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расходы</a:t>
            </a: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: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898740" y="1905943"/>
            <a:ext cx="6185535" cy="224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Хостинг / сервер: </a:t>
            </a:r>
            <a:r>
              <a:rPr lang="ru-RU" sz="2800" b="1" dirty="0">
                <a:solidFill>
                  <a:schemeClr val="bg1"/>
                </a:solidFill>
                <a:cs typeface="Aharoni" panose="020F0502020204030204" pitchFamily="2" charset="-79"/>
              </a:rPr>
              <a:t>~</a:t>
            </a: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5 000 ₽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Маркетинг и реклама: </a:t>
            </a:r>
            <a:r>
              <a:rPr lang="ru-RU" sz="2800" b="1" dirty="0">
                <a:solidFill>
                  <a:schemeClr val="bg1"/>
                </a:solidFill>
                <a:cs typeface="Aharoni" panose="020F0502020204030204" pitchFamily="2" charset="-79"/>
              </a:rPr>
              <a:t>~</a:t>
            </a: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50 000 ₽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Разработка / поддержка: </a:t>
            </a:r>
            <a:r>
              <a:rPr lang="ru-RU" sz="2800" b="1" dirty="0">
                <a:solidFill>
                  <a:schemeClr val="bg1"/>
                </a:solidFill>
                <a:cs typeface="Aharoni" panose="020F0502020204030204" pitchFamily="2" charset="-79"/>
              </a:rPr>
              <a:t>~</a:t>
            </a: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50 000 ₽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Сервисы и инструменты: </a:t>
            </a:r>
            <a:r>
              <a:rPr lang="ru-RU" sz="2800" b="1" dirty="0">
                <a:solidFill>
                  <a:schemeClr val="bg1"/>
                </a:solidFill>
                <a:cs typeface="Aharoni" panose="020F0502020204030204" pitchFamily="2" charset="-79"/>
              </a:rPr>
              <a:t>~</a:t>
            </a: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10 000 ₽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Прочие расходы: </a:t>
            </a:r>
            <a:r>
              <a:rPr lang="ru-RU" sz="2800" b="1" dirty="0">
                <a:solidFill>
                  <a:schemeClr val="bg1"/>
                </a:solidFill>
                <a:cs typeface="Aharoni" panose="020F0502020204030204" pitchFamily="2" charset="-79"/>
              </a:rPr>
              <a:t>~</a:t>
            </a:r>
            <a:r>
              <a:rPr lang="en-US" sz="2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10 000 ₽</a:t>
            </a:r>
            <a:endParaRPr lang="en-US" sz="2800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580E9F0-4EDC-1E71-7315-01A4661EB6B5}"/>
              </a:ext>
            </a:extLst>
          </p:cNvPr>
          <p:cNvGrpSpPr/>
          <p:nvPr/>
        </p:nvGrpSpPr>
        <p:grpSpPr>
          <a:xfrm>
            <a:off x="830104" y="6726124"/>
            <a:ext cx="12954952" cy="1080373"/>
            <a:chOff x="830104" y="6797330"/>
            <a:chExt cx="12954952" cy="1080373"/>
          </a:xfrm>
        </p:grpSpPr>
        <p:sp>
          <p:nvSpPr>
            <p:cNvPr id="7" name="Shape 5"/>
            <p:cNvSpPr/>
            <p:nvPr/>
          </p:nvSpPr>
          <p:spPr>
            <a:xfrm>
              <a:off x="830104" y="6797330"/>
              <a:ext cx="12954952" cy="1080373"/>
            </a:xfrm>
            <a:prstGeom prst="roundRect">
              <a:avLst>
                <a:gd name="adj" fmla="val 3324"/>
              </a:avLst>
            </a:prstGeom>
            <a:solidFill>
              <a:srgbClr val="183A13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9419" y="7120704"/>
              <a:ext cx="422434" cy="337899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731169" y="7096415"/>
              <a:ext cx="4482227" cy="4223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FFFF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Итого: ~125 000 ₽ в месяц</a:t>
              </a:r>
              <a:endParaRPr lang="en-US" sz="2650" dirty="0"/>
            </a:p>
          </p:txBody>
        </p:sp>
      </p:grpSp>
    </p:spTree>
    <p:extLst>
      <p:ext uri="{BB962C8B-B14F-4D97-AF65-F5344CB8AC3E}">
        <p14:creationId xmlns:p14="http://schemas.microsoft.com/office/powerpoint/2010/main" val="73928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5"/>
          <p:cNvSpPr/>
          <p:nvPr/>
        </p:nvSpPr>
        <p:spPr>
          <a:xfrm>
            <a:off x="785455" y="6618565"/>
            <a:ext cx="13059489" cy="915710"/>
          </a:xfrm>
          <a:prstGeom prst="roundRect">
            <a:avLst>
              <a:gd name="adj" fmla="val 3676"/>
            </a:avLst>
          </a:prstGeom>
          <a:solidFill>
            <a:srgbClr val="0F004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6"/>
          <p:cNvSpPr/>
          <p:nvPr/>
        </p:nvSpPr>
        <p:spPr>
          <a:xfrm>
            <a:off x="1514594" y="6902529"/>
            <a:ext cx="12106037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3600" b="1" dirty="0" err="1">
                <a:solidFill>
                  <a:srgbClr val="FFFFFF"/>
                </a:solidFill>
                <a:latin typeface="Aptos Slab SemiBold" panose="020F0502020204030204" pitchFamily="34" charset="0"/>
                <a:ea typeface="Arimo" pitchFamily="34" charset="-122"/>
                <a:cs typeface="Arimo" pitchFamily="34" charset="-120"/>
              </a:rPr>
              <a:t>NewStage</a:t>
            </a: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- </a:t>
            </a:r>
            <a:r>
              <a:rPr lang="ru-RU" sz="1750" b="1" dirty="0">
                <a:solidFill>
                  <a:schemeClr val="bg1"/>
                </a:solidFill>
                <a:latin typeface="Amiro"/>
              </a:rPr>
              <a:t>Сканируйте QR-код, чтобы открыть MVP</a:t>
            </a:r>
            <a:endParaRPr lang="en-US" sz="1750" b="1" dirty="0">
              <a:solidFill>
                <a:schemeClr val="bg1"/>
              </a:solidFill>
              <a:latin typeface="Amiro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96B2297A-EC59-AAEF-80A7-C34CC9766886}"/>
              </a:ext>
            </a:extLst>
          </p:cNvPr>
          <p:cNvSpPr/>
          <p:nvPr/>
        </p:nvSpPr>
        <p:spPr>
          <a:xfrm>
            <a:off x="3099385" y="382276"/>
            <a:ext cx="8936454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ru-RU" sz="3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Попробуйте </a:t>
            </a:r>
            <a:r>
              <a:rPr lang="en-US" sz="3900" b="1" dirty="0" err="1">
                <a:solidFill>
                  <a:srgbClr val="FFFFFF"/>
                </a:solidFill>
                <a:latin typeface="Aptos Slab SemiBold" panose="020B0004020202020204" pitchFamily="34" charset="0"/>
                <a:ea typeface="Syne Bold" pitchFamily="34" charset="-122"/>
                <a:cs typeface="Syne Bold" pitchFamily="34" charset="-120"/>
              </a:rPr>
              <a:t>NewStage</a:t>
            </a:r>
            <a:r>
              <a:rPr lang="ru-RU" sz="3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прямо сейчас!</a:t>
            </a:r>
            <a:endParaRPr lang="en-US" sz="39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847C23C-2D55-FB8D-E327-B4C0798F3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581" y="1065064"/>
            <a:ext cx="5201101" cy="52695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378</Words>
  <Application>Microsoft Office PowerPoint</Application>
  <PresentationFormat>Произвольный</PresentationFormat>
  <Paragraphs>79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Arimo</vt:lpstr>
      <vt:lpstr>Aptos Slab SemiBold</vt:lpstr>
      <vt:lpstr>Amiro</vt:lpstr>
      <vt:lpstr>Aharoni</vt:lpstr>
      <vt:lpstr>Syne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Студент</dc:creator>
  <cp:lastModifiedBy>B-ZONE</cp:lastModifiedBy>
  <cp:revision>13</cp:revision>
  <dcterms:created xsi:type="dcterms:W3CDTF">2026-04-22T18:56:02Z</dcterms:created>
  <dcterms:modified xsi:type="dcterms:W3CDTF">2026-05-07T09:41:35Z</dcterms:modified>
</cp:coreProperties>
</file>